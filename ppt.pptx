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81023" y="0"/>
            <a:ext cx="3287395" cy="1691005"/>
          </a:xfrm>
          <a:custGeom>
            <a:avLst/>
            <a:gdLst/>
            <a:ahLst/>
            <a:cxnLst/>
            <a:rect l="l" t="t" r="r" b="b"/>
            <a:pathLst>
              <a:path w="3287395" h="1691005">
                <a:moveTo>
                  <a:pt x="3287267" y="0"/>
                </a:moveTo>
                <a:lnTo>
                  <a:pt x="0" y="0"/>
                </a:lnTo>
                <a:lnTo>
                  <a:pt x="0" y="1690751"/>
                </a:lnTo>
                <a:lnTo>
                  <a:pt x="3287267" y="1690751"/>
                </a:lnTo>
                <a:lnTo>
                  <a:pt x="32872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1023" y="0"/>
            <a:ext cx="3287395" cy="1691005"/>
          </a:xfrm>
          <a:custGeom>
            <a:avLst/>
            <a:gdLst/>
            <a:ahLst/>
            <a:cxnLst/>
            <a:rect l="l" t="t" r="r" b="b"/>
            <a:pathLst>
              <a:path w="3287395" h="1691005">
                <a:moveTo>
                  <a:pt x="0" y="1690751"/>
                </a:moveTo>
                <a:lnTo>
                  <a:pt x="3287267" y="1690751"/>
                </a:lnTo>
                <a:lnTo>
                  <a:pt x="3287267" y="0"/>
                </a:lnTo>
                <a:lnTo>
                  <a:pt x="0" y="0"/>
                </a:lnTo>
                <a:lnTo>
                  <a:pt x="0" y="1690751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4001" y="376885"/>
            <a:ext cx="2002155" cy="848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4058" y="5068315"/>
            <a:ext cx="5127625" cy="16040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dirty="0">
                <a:solidFill>
                  <a:srgbClr val="FFFF00"/>
                </a:solidFill>
                <a:latin typeface="Calibri Light"/>
                <a:cs typeface="Calibri Light"/>
              </a:rPr>
              <a:t>Name</a:t>
            </a:r>
            <a:r>
              <a:rPr sz="2800" spc="-70" dirty="0">
                <a:solidFill>
                  <a:srgbClr val="FFFF00"/>
                </a:solidFill>
                <a:latin typeface="Calibri Light"/>
                <a:cs typeface="Calibri Light"/>
              </a:rPr>
              <a:t> </a:t>
            </a:r>
            <a:r>
              <a:rPr sz="2800" dirty="0">
                <a:solidFill>
                  <a:srgbClr val="FFFF00"/>
                </a:solidFill>
                <a:latin typeface="Calibri Light"/>
                <a:cs typeface="Calibri Light"/>
              </a:rPr>
              <a:t>:</a:t>
            </a:r>
            <a:r>
              <a:rPr sz="2800" spc="-55" dirty="0">
                <a:solidFill>
                  <a:srgbClr val="FFFF00"/>
                </a:solidFill>
                <a:latin typeface="Calibri Light"/>
                <a:cs typeface="Calibri Light"/>
              </a:rPr>
              <a:t> </a:t>
            </a:r>
            <a:r>
              <a:rPr sz="2800" dirty="0">
                <a:solidFill>
                  <a:srgbClr val="FFFF00"/>
                </a:solidFill>
                <a:latin typeface="Calibri Light"/>
                <a:cs typeface="Calibri Light"/>
              </a:rPr>
              <a:t>Sukhdeep</a:t>
            </a:r>
            <a:r>
              <a:rPr sz="2800" spc="-60" dirty="0">
                <a:solidFill>
                  <a:srgbClr val="FFFF00"/>
                </a:solidFill>
                <a:latin typeface="Calibri Light"/>
                <a:cs typeface="Calibri Light"/>
              </a:rPr>
              <a:t> </a:t>
            </a:r>
            <a:r>
              <a:rPr sz="2800" dirty="0">
                <a:solidFill>
                  <a:srgbClr val="FFFF00"/>
                </a:solidFill>
                <a:latin typeface="Calibri Light"/>
                <a:cs typeface="Calibri Light"/>
              </a:rPr>
              <a:t>Singh,</a:t>
            </a:r>
            <a:r>
              <a:rPr sz="2800" spc="-70" dirty="0">
                <a:solidFill>
                  <a:srgbClr val="FFFF00"/>
                </a:solidFill>
                <a:latin typeface="Calibri Light"/>
                <a:cs typeface="Calibri Light"/>
              </a:rPr>
              <a:t> </a:t>
            </a:r>
            <a:r>
              <a:rPr sz="2800" dirty="0">
                <a:solidFill>
                  <a:srgbClr val="FFFF00"/>
                </a:solidFill>
                <a:latin typeface="Calibri Light"/>
                <a:cs typeface="Calibri Light"/>
              </a:rPr>
              <a:t>Suraj</a:t>
            </a:r>
            <a:r>
              <a:rPr sz="2800" spc="-55" dirty="0">
                <a:solidFill>
                  <a:srgbClr val="FFFF00"/>
                </a:solidFill>
                <a:latin typeface="Calibri Light"/>
                <a:cs typeface="Calibri Light"/>
              </a:rPr>
              <a:t> </a:t>
            </a:r>
            <a:r>
              <a:rPr sz="2800" spc="-10" dirty="0">
                <a:solidFill>
                  <a:srgbClr val="FFFF00"/>
                </a:solidFill>
                <a:latin typeface="Calibri Light"/>
                <a:cs typeface="Calibri Light"/>
              </a:rPr>
              <a:t>Sohal </a:t>
            </a:r>
            <a:r>
              <a:rPr sz="2800" dirty="0">
                <a:solidFill>
                  <a:srgbClr val="FFFF00"/>
                </a:solidFill>
                <a:latin typeface="Calibri Light"/>
                <a:cs typeface="Calibri Light"/>
              </a:rPr>
              <a:t>Branch:</a:t>
            </a:r>
            <a:r>
              <a:rPr sz="2800" spc="-100" dirty="0">
                <a:solidFill>
                  <a:srgbClr val="FFFF00"/>
                </a:solidFill>
                <a:latin typeface="Calibri Light"/>
                <a:cs typeface="Calibri Light"/>
              </a:rPr>
              <a:t> </a:t>
            </a:r>
            <a:r>
              <a:rPr sz="2800" spc="-10" dirty="0">
                <a:solidFill>
                  <a:srgbClr val="FFFF00"/>
                </a:solidFill>
                <a:latin typeface="Calibri Light"/>
                <a:cs typeface="Calibri Light"/>
              </a:rPr>
              <a:t>Btech(CSE)</a:t>
            </a:r>
            <a:endParaRPr sz="2800" dirty="0">
              <a:solidFill>
                <a:srgbClr val="FFFF00"/>
              </a:solidFill>
              <a:latin typeface="Calibri Light"/>
              <a:cs typeface="Calibri Light"/>
            </a:endParaRPr>
          </a:p>
          <a:p>
            <a:pPr marL="12700">
              <a:lnSpc>
                <a:spcPts val="2820"/>
              </a:lnSpc>
            </a:pPr>
            <a:r>
              <a:rPr sz="2800" dirty="0">
                <a:solidFill>
                  <a:srgbClr val="FFFF00"/>
                </a:solidFill>
                <a:latin typeface="Calibri Light"/>
                <a:cs typeface="Calibri Light"/>
              </a:rPr>
              <a:t>Roll</a:t>
            </a:r>
            <a:r>
              <a:rPr sz="2800" spc="-40" dirty="0">
                <a:solidFill>
                  <a:srgbClr val="FFFF00"/>
                </a:solidFill>
                <a:latin typeface="Calibri Light"/>
                <a:cs typeface="Calibri Light"/>
              </a:rPr>
              <a:t> </a:t>
            </a:r>
            <a:r>
              <a:rPr sz="2800" dirty="0">
                <a:solidFill>
                  <a:srgbClr val="FFFF00"/>
                </a:solidFill>
                <a:latin typeface="Calibri Light"/>
                <a:cs typeface="Calibri Light"/>
              </a:rPr>
              <a:t>No</a:t>
            </a:r>
            <a:r>
              <a:rPr sz="2800" spc="-35" dirty="0">
                <a:solidFill>
                  <a:srgbClr val="FFFF00"/>
                </a:solidFill>
                <a:latin typeface="Calibri Light"/>
                <a:cs typeface="Calibri Light"/>
              </a:rPr>
              <a:t> </a:t>
            </a:r>
            <a:r>
              <a:rPr sz="2800" dirty="0">
                <a:solidFill>
                  <a:srgbClr val="FFFF00"/>
                </a:solidFill>
                <a:latin typeface="Calibri Light"/>
                <a:cs typeface="Calibri Light"/>
              </a:rPr>
              <a:t>:</a:t>
            </a:r>
            <a:r>
              <a:rPr sz="2800" spc="-35" dirty="0">
                <a:solidFill>
                  <a:srgbClr val="FFFF00"/>
                </a:solidFill>
                <a:latin typeface="Calibri Light"/>
                <a:cs typeface="Calibri Light"/>
              </a:rPr>
              <a:t> </a:t>
            </a:r>
            <a:r>
              <a:rPr sz="2800" spc="-10" dirty="0">
                <a:solidFill>
                  <a:srgbClr val="FFFF00"/>
                </a:solidFill>
                <a:latin typeface="Calibri Light"/>
                <a:cs typeface="Calibri Light"/>
              </a:rPr>
              <a:t>24303416,24303426</a:t>
            </a:r>
            <a:endParaRPr sz="2800" dirty="0">
              <a:solidFill>
                <a:srgbClr val="FFFF00"/>
              </a:solidFill>
              <a:latin typeface="Calibri Light"/>
              <a:cs typeface="Calibri Light"/>
            </a:endParaRPr>
          </a:p>
          <a:p>
            <a:pPr marL="12700">
              <a:lnSpc>
                <a:spcPts val="3190"/>
              </a:lnSpc>
            </a:pPr>
            <a:r>
              <a:rPr sz="2800" dirty="0">
                <a:solidFill>
                  <a:srgbClr val="FFFF00"/>
                </a:solidFill>
                <a:latin typeface="Calibri Light"/>
                <a:cs typeface="Calibri Light"/>
              </a:rPr>
              <a:t>College</a:t>
            </a:r>
            <a:r>
              <a:rPr sz="2800" spc="-35" dirty="0">
                <a:solidFill>
                  <a:srgbClr val="FFFF00"/>
                </a:solidFill>
                <a:latin typeface="Calibri Light"/>
                <a:cs typeface="Calibri Light"/>
              </a:rPr>
              <a:t> </a:t>
            </a:r>
            <a:r>
              <a:rPr sz="2800" dirty="0">
                <a:solidFill>
                  <a:srgbClr val="FFFF00"/>
                </a:solidFill>
                <a:latin typeface="Calibri Light"/>
                <a:cs typeface="Calibri Light"/>
              </a:rPr>
              <a:t>Name</a:t>
            </a:r>
            <a:r>
              <a:rPr sz="2800" spc="-60" dirty="0">
                <a:solidFill>
                  <a:srgbClr val="FFFF00"/>
                </a:solidFill>
                <a:latin typeface="Calibri Light"/>
                <a:cs typeface="Calibri Light"/>
              </a:rPr>
              <a:t> </a:t>
            </a:r>
            <a:r>
              <a:rPr sz="2800" dirty="0">
                <a:solidFill>
                  <a:srgbClr val="FFFF00"/>
                </a:solidFill>
                <a:latin typeface="Calibri Light"/>
                <a:cs typeface="Calibri Light"/>
              </a:rPr>
              <a:t>:</a:t>
            </a:r>
            <a:r>
              <a:rPr sz="2800" spc="-40" dirty="0">
                <a:solidFill>
                  <a:srgbClr val="FFFF00"/>
                </a:solidFill>
                <a:latin typeface="Calibri Light"/>
                <a:cs typeface="Calibri Light"/>
              </a:rPr>
              <a:t> </a:t>
            </a:r>
            <a:r>
              <a:rPr sz="2800" dirty="0">
                <a:solidFill>
                  <a:srgbClr val="FFFF00"/>
                </a:solidFill>
                <a:latin typeface="Calibri Light"/>
                <a:cs typeface="Calibri Light"/>
              </a:rPr>
              <a:t>SBSSU</a:t>
            </a:r>
            <a:r>
              <a:rPr sz="2800" spc="-45" dirty="0">
                <a:solidFill>
                  <a:srgbClr val="FFFF00"/>
                </a:solidFill>
                <a:latin typeface="Calibri Light"/>
                <a:cs typeface="Calibri Light"/>
              </a:rPr>
              <a:t> </a:t>
            </a:r>
            <a:r>
              <a:rPr sz="2800" spc="-10" dirty="0">
                <a:solidFill>
                  <a:srgbClr val="FFFF00"/>
                </a:solidFill>
                <a:latin typeface="Calibri Light"/>
                <a:cs typeface="Calibri Light"/>
              </a:rPr>
              <a:t>GURDASPUR</a:t>
            </a:r>
            <a:endParaRPr sz="2800" dirty="0">
              <a:solidFill>
                <a:srgbClr val="FFFF00"/>
              </a:solidFill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9651"/>
            <a:ext cx="12072364" cy="35067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317" y="81028"/>
            <a:ext cx="11968226" cy="66554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43419" y="4311002"/>
            <a:ext cx="2068195" cy="60325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785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Future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Work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467" y="4993906"/>
            <a:ext cx="1610360" cy="41783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365125">
              <a:lnSpc>
                <a:spcPct val="100000"/>
              </a:lnSpc>
              <a:spcBef>
                <a:spcPts val="55"/>
              </a:spcBef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Graphs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89369" y="2627376"/>
              <a:ext cx="3761740" cy="2830195"/>
            </a:xfrm>
            <a:custGeom>
              <a:avLst/>
              <a:gdLst/>
              <a:ahLst/>
              <a:cxnLst/>
              <a:rect l="l" t="t" r="r" b="b"/>
              <a:pathLst>
                <a:path w="3761740" h="2830195">
                  <a:moveTo>
                    <a:pt x="3761740" y="0"/>
                  </a:moveTo>
                  <a:lnTo>
                    <a:pt x="0" y="0"/>
                  </a:lnTo>
                  <a:lnTo>
                    <a:pt x="0" y="2830068"/>
                  </a:lnTo>
                  <a:lnTo>
                    <a:pt x="3761740" y="2830068"/>
                  </a:lnTo>
                  <a:lnTo>
                    <a:pt x="3761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4695" y="2657855"/>
              <a:ext cx="3946398" cy="67741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5071" y="3023616"/>
              <a:ext cx="4030217" cy="67741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3840" y="3389376"/>
              <a:ext cx="1946910" cy="67741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87651" y="3389376"/>
              <a:ext cx="1472946" cy="67741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57500" y="3389376"/>
              <a:ext cx="1315974" cy="67741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8808" y="3755135"/>
              <a:ext cx="3681222" cy="67741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1084" y="4120896"/>
              <a:ext cx="3836670" cy="67741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4444" y="4486655"/>
              <a:ext cx="3408426" cy="67741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79803" y="4852415"/>
              <a:ext cx="1308354" cy="677418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289369" y="2627376"/>
            <a:ext cx="3761740" cy="2830195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marL="102235" marR="95885" indent="-1905" algn="ctr">
              <a:lnSpc>
                <a:spcPct val="100000"/>
              </a:lnSpc>
              <a:spcBef>
                <a:spcPts val="910"/>
              </a:spcBef>
            </a:pPr>
            <a:r>
              <a:rPr sz="2400" b="1" dirty="0">
                <a:latin typeface="Calibri"/>
                <a:cs typeface="Calibri"/>
              </a:rPr>
              <a:t>Netflix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world's </a:t>
            </a:r>
            <a:r>
              <a:rPr sz="2400" b="1" dirty="0">
                <a:latin typeface="Calibri"/>
                <a:cs typeface="Calibri"/>
              </a:rPr>
              <a:t>largest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streaming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platforms. </a:t>
            </a:r>
            <a:r>
              <a:rPr sz="2400" b="1" dirty="0">
                <a:latin typeface="Calibri"/>
                <a:cs typeface="Calibri"/>
              </a:rPr>
              <a:t>This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project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analysis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Netflix </a:t>
            </a:r>
            <a:r>
              <a:rPr sz="2400" b="1" dirty="0">
                <a:latin typeface="Calibri"/>
                <a:cs typeface="Calibri"/>
              </a:rPr>
              <a:t>data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discover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trends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in </a:t>
            </a:r>
            <a:r>
              <a:rPr sz="2400" b="1" dirty="0">
                <a:latin typeface="Calibri"/>
                <a:cs typeface="Calibri"/>
              </a:rPr>
              <a:t>content,</a:t>
            </a:r>
            <a:r>
              <a:rPr sz="2400" b="1" spc="-1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genres,</a:t>
            </a:r>
            <a:r>
              <a:rPr sz="2400" b="1" spc="-1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countries,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release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years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using Python.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547"/>
            <a:ext cx="12099401" cy="67684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2765" y="4386795"/>
              <a:ext cx="7511034" cy="11921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42765" y="4386795"/>
              <a:ext cx="7511415" cy="1192530"/>
            </a:xfrm>
            <a:custGeom>
              <a:avLst/>
              <a:gdLst/>
              <a:ahLst/>
              <a:cxnLst/>
              <a:rect l="l" t="t" r="r" b="b"/>
              <a:pathLst>
                <a:path w="7511415" h="1192529">
                  <a:moveTo>
                    <a:pt x="0" y="1192187"/>
                  </a:moveTo>
                  <a:lnTo>
                    <a:pt x="7511034" y="1192187"/>
                  </a:lnTo>
                  <a:lnTo>
                    <a:pt x="7511034" y="0"/>
                  </a:lnTo>
                  <a:lnTo>
                    <a:pt x="0" y="0"/>
                  </a:lnTo>
                  <a:lnTo>
                    <a:pt x="0" y="119218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901560A-A801-9356-33E0-184AB82528E0}"/>
              </a:ext>
            </a:extLst>
          </p:cNvPr>
          <p:cNvSpPr/>
          <p:nvPr/>
        </p:nvSpPr>
        <p:spPr>
          <a:xfrm>
            <a:off x="3842764" y="228600"/>
            <a:ext cx="8196835" cy="3810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8768" y="644397"/>
            <a:ext cx="2552065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z="3200" spc="-10" dirty="0">
                <a:solidFill>
                  <a:srgbClr val="FFFFFF"/>
                </a:solidFill>
                <a:latin typeface="Arial Black"/>
                <a:cs typeface="Arial Black"/>
              </a:rPr>
              <a:t>Problem statements</a:t>
            </a:r>
            <a:endParaRPr sz="3200">
              <a:latin typeface="Arial Black"/>
              <a:cs typeface="Arial Black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3251" y="987425"/>
            <a:ext cx="6172073" cy="48736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8768" y="2401950"/>
            <a:ext cx="3745229" cy="2794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Arial Rounded MT Bold"/>
                <a:cs typeface="Arial Rounded MT Bold"/>
              </a:rPr>
              <a:t>Which</a:t>
            </a:r>
            <a:r>
              <a:rPr sz="1600" spc="-35" dirty="0">
                <a:solidFill>
                  <a:srgbClr val="FFFFFF"/>
                </a:solidFill>
                <a:latin typeface="Arial Rounded MT Bold"/>
                <a:cs typeface="Arial Rounded MT Bold"/>
              </a:rPr>
              <a:t> </a:t>
            </a:r>
            <a:r>
              <a:rPr sz="1600" dirty="0">
                <a:solidFill>
                  <a:srgbClr val="FFFFFF"/>
                </a:solidFill>
                <a:latin typeface="Arial Rounded MT Bold"/>
                <a:cs typeface="Arial Rounded MT Bold"/>
              </a:rPr>
              <a:t>content</a:t>
            </a:r>
            <a:r>
              <a:rPr sz="1600" spc="-30" dirty="0">
                <a:solidFill>
                  <a:srgbClr val="FFFFFF"/>
                </a:solidFill>
                <a:latin typeface="Arial Rounded MT Bold"/>
                <a:cs typeface="Arial Rounded MT Bold"/>
              </a:rPr>
              <a:t> </a:t>
            </a:r>
            <a:r>
              <a:rPr sz="1600" dirty="0">
                <a:solidFill>
                  <a:srgbClr val="FFFFFF"/>
                </a:solidFill>
                <a:latin typeface="Arial Rounded MT Bold"/>
                <a:cs typeface="Arial Rounded MT Bold"/>
              </a:rPr>
              <a:t>type</a:t>
            </a:r>
            <a:r>
              <a:rPr sz="1600" spc="-40" dirty="0">
                <a:solidFill>
                  <a:srgbClr val="FFFFFF"/>
                </a:solidFill>
                <a:latin typeface="Arial Rounded MT Bold"/>
                <a:cs typeface="Arial Rounded MT Bold"/>
              </a:rPr>
              <a:t> </a:t>
            </a:r>
            <a:r>
              <a:rPr sz="1600" dirty="0">
                <a:solidFill>
                  <a:srgbClr val="FFFFFF"/>
                </a:solidFill>
                <a:latin typeface="Arial Rounded MT Bold"/>
                <a:cs typeface="Arial Rounded MT Bold"/>
              </a:rPr>
              <a:t>is</a:t>
            </a:r>
            <a:r>
              <a:rPr sz="1600" spc="-30" dirty="0">
                <a:solidFill>
                  <a:srgbClr val="FFFFFF"/>
                </a:solidFill>
                <a:latin typeface="Arial Rounded MT Bold"/>
                <a:cs typeface="Arial Rounded MT Bold"/>
              </a:rPr>
              <a:t> </a:t>
            </a:r>
            <a:r>
              <a:rPr sz="1600" dirty="0">
                <a:solidFill>
                  <a:srgbClr val="FFFFFF"/>
                </a:solidFill>
                <a:latin typeface="Arial Rounded MT Bold"/>
                <a:cs typeface="Arial Rounded MT Bold"/>
              </a:rPr>
              <a:t>more</a:t>
            </a:r>
            <a:r>
              <a:rPr sz="1600" spc="-45" dirty="0">
                <a:solidFill>
                  <a:srgbClr val="FFFFFF"/>
                </a:solidFill>
                <a:latin typeface="Arial Rounded MT Bold"/>
                <a:cs typeface="Arial Rounded MT Bold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common?</a:t>
            </a:r>
            <a:endParaRPr sz="1600">
              <a:latin typeface="Arial Rounded MT Bold"/>
              <a:cs typeface="Arial Rounded MT Bold"/>
            </a:endParaRPr>
          </a:p>
          <a:p>
            <a:pPr>
              <a:lnSpc>
                <a:spcPct val="100000"/>
              </a:lnSpc>
            </a:pPr>
            <a:endParaRPr sz="1600">
              <a:latin typeface="Arial Rounded MT Bold"/>
              <a:cs typeface="Arial Rounded MT Bold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600">
              <a:latin typeface="Arial Rounded MT Bold"/>
              <a:cs typeface="Arial Rounded MT Bold"/>
            </a:endParaRPr>
          </a:p>
          <a:p>
            <a:pPr marL="12700" marR="379095" indent="50165">
              <a:lnSpc>
                <a:spcPts val="1730"/>
              </a:lnSpc>
            </a:pPr>
            <a:r>
              <a:rPr sz="1600" dirty="0">
                <a:solidFill>
                  <a:srgbClr val="FFFFFF"/>
                </a:solidFill>
                <a:latin typeface="Arial Rounded MT Bold"/>
                <a:cs typeface="Arial Rounded MT Bold"/>
              </a:rPr>
              <a:t>Which</a:t>
            </a:r>
            <a:r>
              <a:rPr sz="1600" spc="-40" dirty="0">
                <a:solidFill>
                  <a:srgbClr val="FFFFFF"/>
                </a:solidFill>
                <a:latin typeface="Arial Rounded MT Bold"/>
                <a:cs typeface="Arial Rounded MT Bold"/>
              </a:rPr>
              <a:t> </a:t>
            </a:r>
            <a:r>
              <a:rPr sz="1600" dirty="0">
                <a:solidFill>
                  <a:srgbClr val="FFFFFF"/>
                </a:solidFill>
                <a:latin typeface="Arial Rounded MT Bold"/>
                <a:cs typeface="Arial Rounded MT Bold"/>
              </a:rPr>
              <a:t>country</a:t>
            </a:r>
            <a:r>
              <a:rPr sz="1600" spc="-25" dirty="0">
                <a:solidFill>
                  <a:srgbClr val="FFFFFF"/>
                </a:solidFill>
                <a:latin typeface="Arial Rounded MT Bold"/>
                <a:cs typeface="Arial Rounded MT Bold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produces</a:t>
            </a:r>
            <a:r>
              <a:rPr sz="1600" spc="-35" dirty="0">
                <a:solidFill>
                  <a:srgbClr val="FFFFFF"/>
                </a:solidFill>
                <a:latin typeface="Arial Rounded MT Bold"/>
                <a:cs typeface="Arial Rounded MT Bold"/>
              </a:rPr>
              <a:t> </a:t>
            </a:r>
            <a:r>
              <a:rPr sz="1600" dirty="0">
                <a:solidFill>
                  <a:srgbClr val="FFFFFF"/>
                </a:solidFill>
                <a:latin typeface="Arial Rounded MT Bold"/>
                <a:cs typeface="Arial Rounded MT Bold"/>
              </a:rPr>
              <a:t>the</a:t>
            </a:r>
            <a:r>
              <a:rPr sz="1600" spc="-30" dirty="0">
                <a:solidFill>
                  <a:srgbClr val="FFFFFF"/>
                </a:solidFill>
                <a:latin typeface="Arial Rounded MT Bold"/>
                <a:cs typeface="Arial Rounded MT Bold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 Rounded MT Bold"/>
                <a:cs typeface="Arial Rounded MT Bold"/>
              </a:rPr>
              <a:t>most </a:t>
            </a:r>
            <a:r>
              <a:rPr sz="16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content?</a:t>
            </a:r>
            <a:endParaRPr sz="1600">
              <a:latin typeface="Arial Rounded MT Bold"/>
              <a:cs typeface="Arial Rounded MT Bold"/>
            </a:endParaRPr>
          </a:p>
          <a:p>
            <a:pPr>
              <a:lnSpc>
                <a:spcPct val="100000"/>
              </a:lnSpc>
              <a:spcBef>
                <a:spcPts val="1664"/>
              </a:spcBef>
            </a:pPr>
            <a:endParaRPr sz="1600">
              <a:latin typeface="Arial Rounded MT Bold"/>
              <a:cs typeface="Arial Rounded MT Bold"/>
            </a:endParaRPr>
          </a:p>
          <a:p>
            <a:pPr marL="62865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Arial Rounded MT Bold"/>
                <a:cs typeface="Arial Rounded MT Bold"/>
              </a:rPr>
              <a:t>Which</a:t>
            </a:r>
            <a:r>
              <a:rPr sz="1600" spc="-55" dirty="0">
                <a:solidFill>
                  <a:srgbClr val="FFFFFF"/>
                </a:solidFill>
                <a:latin typeface="Arial Rounded MT Bold"/>
                <a:cs typeface="Arial Rounded MT Bold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genres</a:t>
            </a:r>
            <a:r>
              <a:rPr sz="1600" spc="-50" dirty="0">
                <a:solidFill>
                  <a:srgbClr val="FFFFFF"/>
                </a:solidFill>
                <a:latin typeface="Arial Rounded MT Bold"/>
                <a:cs typeface="Arial Rounded MT Bold"/>
              </a:rPr>
              <a:t> </a:t>
            </a:r>
            <a:r>
              <a:rPr sz="1600" dirty="0">
                <a:solidFill>
                  <a:srgbClr val="FFFFFF"/>
                </a:solidFill>
                <a:latin typeface="Arial Rounded MT Bold"/>
                <a:cs typeface="Arial Rounded MT Bold"/>
              </a:rPr>
              <a:t>are</a:t>
            </a:r>
            <a:r>
              <a:rPr sz="1600" spc="-50" dirty="0">
                <a:solidFill>
                  <a:srgbClr val="FFFFFF"/>
                </a:solidFill>
                <a:latin typeface="Arial Rounded MT Bold"/>
                <a:cs typeface="Arial Rounded MT Bold"/>
              </a:rPr>
              <a:t> </a:t>
            </a:r>
            <a:r>
              <a:rPr sz="1600" dirty="0">
                <a:solidFill>
                  <a:srgbClr val="FFFFFF"/>
                </a:solidFill>
                <a:latin typeface="Arial Rounded MT Bold"/>
                <a:cs typeface="Arial Rounded MT Bold"/>
              </a:rPr>
              <a:t>most</a:t>
            </a:r>
            <a:r>
              <a:rPr sz="1600" spc="-65" dirty="0">
                <a:solidFill>
                  <a:srgbClr val="FFFFFF"/>
                </a:solidFill>
                <a:latin typeface="Arial Rounded MT Bold"/>
                <a:cs typeface="Arial Rounded MT Bold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popular?</a:t>
            </a:r>
            <a:endParaRPr sz="1600">
              <a:latin typeface="Arial Rounded MT Bold"/>
              <a:cs typeface="Arial Rounded MT Bold"/>
            </a:endParaRPr>
          </a:p>
          <a:p>
            <a:pPr>
              <a:lnSpc>
                <a:spcPct val="100000"/>
              </a:lnSpc>
            </a:pPr>
            <a:endParaRPr sz="1600">
              <a:latin typeface="Arial Rounded MT Bold"/>
              <a:cs typeface="Arial Rounded MT Bol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Arial Rounded MT Bold"/>
              <a:cs typeface="Arial Rounded MT Bold"/>
            </a:endParaRPr>
          </a:p>
          <a:p>
            <a:pPr marL="12700" marR="6985">
              <a:lnSpc>
                <a:spcPts val="1730"/>
              </a:lnSpc>
            </a:pPr>
            <a:r>
              <a:rPr sz="1600" dirty="0">
                <a:solidFill>
                  <a:srgbClr val="FFFFFF"/>
                </a:solidFill>
                <a:latin typeface="Arial Rounded MT Bold"/>
                <a:cs typeface="Arial Rounded MT Bold"/>
              </a:rPr>
              <a:t>How</a:t>
            </a:r>
            <a:r>
              <a:rPr sz="1600" spc="-25" dirty="0">
                <a:solidFill>
                  <a:srgbClr val="FFFFFF"/>
                </a:solidFill>
                <a:latin typeface="Arial Rounded MT Bold"/>
                <a:cs typeface="Arial Rounded MT Bold"/>
              </a:rPr>
              <a:t> </a:t>
            </a:r>
            <a:r>
              <a:rPr sz="1600" dirty="0">
                <a:solidFill>
                  <a:srgbClr val="FFFFFF"/>
                </a:solidFill>
                <a:latin typeface="Arial Rounded MT Bold"/>
                <a:cs typeface="Arial Rounded MT Bold"/>
              </a:rPr>
              <a:t>has</a:t>
            </a:r>
            <a:r>
              <a:rPr sz="1600" spc="-30" dirty="0">
                <a:solidFill>
                  <a:srgbClr val="FFFFFF"/>
                </a:solidFill>
                <a:latin typeface="Arial Rounded MT Bold"/>
                <a:cs typeface="Arial Rounded MT Bold"/>
              </a:rPr>
              <a:t> </a:t>
            </a:r>
            <a:r>
              <a:rPr sz="1600" dirty="0">
                <a:solidFill>
                  <a:srgbClr val="FFFFFF"/>
                </a:solidFill>
                <a:latin typeface="Arial Rounded MT Bold"/>
                <a:cs typeface="Arial Rounded MT Bold"/>
              </a:rPr>
              <a:t>Netflix</a:t>
            </a:r>
            <a:r>
              <a:rPr sz="1600" spc="-5" dirty="0">
                <a:solidFill>
                  <a:srgbClr val="FFFFFF"/>
                </a:solidFill>
                <a:latin typeface="Arial Rounded MT Bold"/>
                <a:cs typeface="Arial Rounded MT Bold"/>
              </a:rPr>
              <a:t> </a:t>
            </a:r>
            <a:r>
              <a:rPr sz="1600" dirty="0">
                <a:solidFill>
                  <a:srgbClr val="FFFFFF"/>
                </a:solidFill>
                <a:latin typeface="Arial Rounded MT Bold"/>
                <a:cs typeface="Arial Rounded MT Bold"/>
              </a:rPr>
              <a:t>content</a:t>
            </a:r>
            <a:r>
              <a:rPr sz="1600" spc="-20" dirty="0">
                <a:solidFill>
                  <a:srgbClr val="FFFFFF"/>
                </a:solidFill>
                <a:latin typeface="Arial Rounded MT Bold"/>
                <a:cs typeface="Arial Rounded MT Bold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changed</a:t>
            </a:r>
            <a:r>
              <a:rPr sz="1600" spc="-20" dirty="0">
                <a:solidFill>
                  <a:srgbClr val="FFFFFF"/>
                </a:solidFill>
                <a:latin typeface="Arial Rounded MT Bold"/>
                <a:cs typeface="Arial Rounded MT Bold"/>
              </a:rPr>
              <a:t> over </a:t>
            </a:r>
            <a:r>
              <a:rPr sz="16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time?</a:t>
            </a:r>
            <a:endParaRPr sz="1600">
              <a:latin typeface="Arial Rounded MT Bold"/>
              <a:cs typeface="Arial Rounded MT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388" y="1286332"/>
            <a:ext cx="22860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FFFFFF"/>
                </a:solidFill>
                <a:latin typeface="Calibri Light"/>
                <a:cs typeface="Calibri Light"/>
              </a:rPr>
              <a:t>Future</a:t>
            </a:r>
            <a:r>
              <a:rPr sz="3600" spc="-1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600" spc="-40" dirty="0">
                <a:solidFill>
                  <a:srgbClr val="FFFFFF"/>
                </a:solidFill>
                <a:latin typeface="Calibri Light"/>
                <a:cs typeface="Calibri Light"/>
              </a:rPr>
              <a:t>Work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0388" y="2137409"/>
            <a:ext cx="4359275" cy="36836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838835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solidFill>
                  <a:srgbClr val="FFFFFF"/>
                </a:solidFill>
                <a:latin typeface="Calibri Light"/>
                <a:cs typeface="Calibri Light"/>
              </a:rPr>
              <a:t>→Develop</a:t>
            </a:r>
            <a:r>
              <a:rPr sz="24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an</a:t>
            </a:r>
            <a:r>
              <a:rPr sz="24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 Light"/>
                <a:cs typeface="Calibri Light"/>
              </a:rPr>
              <a:t>interactive </a:t>
            </a: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dashboard</a:t>
            </a:r>
            <a:r>
              <a:rPr sz="24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using</a:t>
            </a:r>
            <a:r>
              <a:rPr sz="24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 Light"/>
                <a:cs typeface="Calibri Light"/>
              </a:rPr>
              <a:t>Streamlit</a:t>
            </a:r>
            <a:r>
              <a:rPr sz="2400" spc="-9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 Light"/>
                <a:cs typeface="Calibri Light"/>
              </a:rPr>
              <a:t>or Power</a:t>
            </a:r>
            <a:r>
              <a:rPr sz="2400" spc="-10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 Light"/>
                <a:cs typeface="Calibri Light"/>
              </a:rPr>
              <a:t>BI.</a:t>
            </a:r>
            <a:endParaRPr sz="2400">
              <a:latin typeface="Calibri Light"/>
              <a:cs typeface="Calibri Light"/>
            </a:endParaRPr>
          </a:p>
          <a:p>
            <a:pPr marL="12700">
              <a:lnSpc>
                <a:spcPts val="2415"/>
              </a:lnSpc>
            </a:pP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→</a:t>
            </a:r>
            <a:r>
              <a:rPr sz="2400" spc="-8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Apply</a:t>
            </a:r>
            <a:r>
              <a:rPr sz="24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 Light"/>
                <a:cs typeface="Calibri Light"/>
              </a:rPr>
              <a:t>Machine</a:t>
            </a:r>
            <a:r>
              <a:rPr sz="2400" spc="-8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 Light"/>
                <a:cs typeface="Calibri Light"/>
              </a:rPr>
              <a:t>Learning</a:t>
            </a:r>
            <a:r>
              <a:rPr sz="2400" spc="-9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endParaRPr sz="2400">
              <a:latin typeface="Calibri Light"/>
              <a:cs typeface="Calibri Light"/>
            </a:endParaRPr>
          </a:p>
          <a:p>
            <a:pPr marL="12700">
              <a:lnSpc>
                <a:spcPts val="2595"/>
              </a:lnSpc>
            </a:pP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build</a:t>
            </a:r>
            <a:r>
              <a:rPr sz="24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24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 Light"/>
                <a:cs typeface="Calibri Light"/>
              </a:rPr>
              <a:t>Netflix</a:t>
            </a:r>
            <a:endParaRPr sz="2400">
              <a:latin typeface="Calibri Light"/>
              <a:cs typeface="Calibri Light"/>
            </a:endParaRPr>
          </a:p>
          <a:p>
            <a:pPr marL="12700" marR="5080">
              <a:lnSpc>
                <a:spcPts val="2590"/>
              </a:lnSpc>
              <a:spcBef>
                <a:spcPts val="185"/>
              </a:spcBef>
            </a:pP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→</a:t>
            </a:r>
            <a:r>
              <a:rPr sz="2400" spc="-8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Analysis</a:t>
            </a:r>
            <a:r>
              <a:rPr sz="24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user</a:t>
            </a:r>
            <a:r>
              <a:rPr sz="24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ratings</a:t>
            </a:r>
            <a:r>
              <a:rPr sz="24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24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 Light"/>
                <a:cs typeface="Calibri Light"/>
              </a:rPr>
              <a:t>viewing </a:t>
            </a: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patterns</a:t>
            </a:r>
            <a:r>
              <a:rPr sz="2400" spc="-1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2400" spc="-9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deeper</a:t>
            </a:r>
            <a:r>
              <a:rPr sz="2400" spc="-8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 Light"/>
                <a:cs typeface="Calibri Light"/>
              </a:rPr>
              <a:t>insights.</a:t>
            </a:r>
            <a:endParaRPr sz="2400">
              <a:latin typeface="Calibri Light"/>
              <a:cs typeface="Calibri Light"/>
            </a:endParaRPr>
          </a:p>
          <a:p>
            <a:pPr marL="12700" marR="66040">
              <a:lnSpc>
                <a:spcPts val="2590"/>
              </a:lnSpc>
              <a:spcBef>
                <a:spcPts val="5"/>
              </a:spcBef>
            </a:pP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→</a:t>
            </a:r>
            <a:r>
              <a:rPr sz="24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Use</a:t>
            </a:r>
            <a:r>
              <a:rPr sz="24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 Light"/>
                <a:cs typeface="Calibri Light"/>
              </a:rPr>
              <a:t>real-</a:t>
            </a: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time</a:t>
            </a:r>
            <a:r>
              <a:rPr sz="24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or</a:t>
            </a:r>
            <a:r>
              <a:rPr sz="24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updated</a:t>
            </a:r>
            <a:r>
              <a:rPr sz="24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 Light"/>
                <a:cs typeface="Calibri Light"/>
              </a:rPr>
              <a:t>Netflix </a:t>
            </a: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datasets</a:t>
            </a:r>
            <a:r>
              <a:rPr sz="2400" spc="-10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2400" spc="-10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continuous</a:t>
            </a:r>
            <a:r>
              <a:rPr sz="2400" spc="-8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 Light"/>
                <a:cs typeface="Calibri Light"/>
              </a:rPr>
              <a:t>analysis.</a:t>
            </a:r>
            <a:endParaRPr sz="2400">
              <a:latin typeface="Calibri Light"/>
              <a:cs typeface="Calibri Light"/>
            </a:endParaRPr>
          </a:p>
          <a:p>
            <a:pPr marL="12700" marR="589915">
              <a:lnSpc>
                <a:spcPts val="2590"/>
              </a:lnSpc>
              <a:spcBef>
                <a:spcPts val="5"/>
              </a:spcBef>
            </a:pP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→</a:t>
            </a:r>
            <a:r>
              <a:rPr sz="2400" spc="-8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 Light"/>
                <a:cs typeface="Calibri Light"/>
              </a:rPr>
              <a:t>Create</a:t>
            </a:r>
            <a:r>
              <a:rPr sz="24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predictive</a:t>
            </a:r>
            <a:r>
              <a:rPr sz="24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models</a:t>
            </a:r>
            <a:r>
              <a:rPr sz="24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 Light"/>
                <a:cs typeface="Calibri Light"/>
              </a:rPr>
              <a:t>to </a:t>
            </a:r>
            <a:r>
              <a:rPr sz="2400" spc="-10" dirty="0">
                <a:solidFill>
                  <a:srgbClr val="FFFFFF"/>
                </a:solidFill>
                <a:latin typeface="Calibri Light"/>
                <a:cs typeface="Calibri Light"/>
              </a:rPr>
              <a:t>forecast</a:t>
            </a:r>
            <a:r>
              <a:rPr sz="2400" spc="-1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 Light"/>
                <a:cs typeface="Calibri Light"/>
              </a:rPr>
              <a:t>future</a:t>
            </a:r>
            <a:r>
              <a:rPr sz="2400" spc="-9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 Light"/>
                <a:cs typeface="Calibri Light"/>
              </a:rPr>
              <a:t>content</a:t>
            </a:r>
            <a:r>
              <a:rPr sz="2400" spc="-8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 Light"/>
                <a:cs typeface="Calibri Light"/>
              </a:rPr>
              <a:t>trends.</a:t>
            </a:r>
            <a:endParaRPr sz="2400">
              <a:latin typeface="Calibri Light"/>
              <a:cs typeface="Calibri Ligh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63426" y="459219"/>
            <a:ext cx="6191250" cy="5777865"/>
            <a:chOff x="5063426" y="459219"/>
            <a:chExt cx="6191250" cy="57778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3015" y="468744"/>
              <a:ext cx="6172200" cy="575843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68189" y="463981"/>
              <a:ext cx="6181725" cy="5768340"/>
            </a:xfrm>
            <a:custGeom>
              <a:avLst/>
              <a:gdLst/>
              <a:ahLst/>
              <a:cxnLst/>
              <a:rect l="l" t="t" r="r" b="b"/>
              <a:pathLst>
                <a:path w="6181725" h="5768340">
                  <a:moveTo>
                    <a:pt x="0" y="5767959"/>
                  </a:moveTo>
                  <a:lnTo>
                    <a:pt x="6181724" y="5767959"/>
                  </a:lnTo>
                  <a:lnTo>
                    <a:pt x="6181724" y="0"/>
                  </a:lnTo>
                  <a:lnTo>
                    <a:pt x="0" y="0"/>
                  </a:lnTo>
                  <a:lnTo>
                    <a:pt x="0" y="576795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F1310-93A9-E81C-5ABF-CF6608F73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0" y="-76200"/>
            <a:ext cx="3124200" cy="1231106"/>
          </a:xfrm>
        </p:spPr>
        <p:txBody>
          <a:bodyPr/>
          <a:lstStyle/>
          <a:p>
            <a:r>
              <a:rPr lang="en-IN" sz="8000" dirty="0"/>
              <a:t>Graphs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48FCB3-5946-3376-9EE1-729D6D403512}"/>
              </a:ext>
            </a:extLst>
          </p:cNvPr>
          <p:cNvSpPr/>
          <p:nvPr/>
        </p:nvSpPr>
        <p:spPr>
          <a:xfrm>
            <a:off x="6248400" y="1299258"/>
            <a:ext cx="5791200" cy="5334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1F36CF-9FD5-7E16-347A-46DD17C68F3A}"/>
              </a:ext>
            </a:extLst>
          </p:cNvPr>
          <p:cNvSpPr/>
          <p:nvPr/>
        </p:nvSpPr>
        <p:spPr>
          <a:xfrm>
            <a:off x="318304" y="1321443"/>
            <a:ext cx="5791200" cy="5334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509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"/>
            <a:ext cx="12191999" cy="67120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140</Words>
  <Application>Microsoft Office PowerPoint</Application>
  <PresentationFormat>Widescreen</PresentationFormat>
  <Paragraphs>24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Black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 statements</vt:lpstr>
      <vt:lpstr>PowerPoint Presentation</vt:lpstr>
      <vt:lpstr>Future Work</vt:lpstr>
      <vt:lpstr>Graphs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sukh deep</dc:creator>
  <cp:lastModifiedBy>sukh deep</cp:lastModifiedBy>
  <cp:revision>3</cp:revision>
  <dcterms:created xsi:type="dcterms:W3CDTF">2026-07-12T17:53:14Z</dcterms:created>
  <dcterms:modified xsi:type="dcterms:W3CDTF">2026-07-15T16:14:28Z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2026-07-07T00:00:00Z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2026-07-12T00:00:00Z</vt:filetime>
  </property>
  <property fmtid="{D5CDD505-2E9C-101B-9397-08002B2CF9AE}" pid="5" name="Producer">
    <vt:lpwstr>3-Heights(TM) PDF Security Shell 4.8.25.2 (http://www.pdf-tools.com)</vt:lpwstr>
  </property>
</Properties>
</file>